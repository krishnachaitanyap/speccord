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3657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59736"/>
            <a:ext cx="12191695" cy="3657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731520"/>
            <a:ext cx="1219169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600" b="1">
                <a:solidFill>
                  <a:srgbClr val="D6EEF0"/>
                </a:solidFill>
                <a:latin typeface="Helvetica Neue"/>
              </a:rPr>
              <a:t>speccord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22D3EE"/>
                </a:solidFill>
                <a:latin typeface="Helvetica Neue"/>
              </a:rPr>
              <a:t>the spec is the contract your code is checked against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FB2B6"/>
                </a:solidFill>
                <a:latin typeface="Helvetica Neue"/>
              </a:rPr>
              <a:t>A spec-driven development CLI — keep code and spec in sync, both 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407" y="4206240"/>
            <a:ext cx="2926080" cy="548640"/>
          </a:xfrm>
          <a:prstGeom prst="rect">
            <a:avLst/>
          </a:prstGeom>
          <a:solidFill>
            <a:srgbClr val="07171A"/>
          </a:solidFill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24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D3EE"/>
                </a:solidFill>
                <a:latin typeface="Helvetica Neue"/>
              </a:rPr>
              <a:t>Extract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32807" y="4206240"/>
            <a:ext cx="2926080" cy="548640"/>
          </a:xfrm>
          <a:prstGeom prst="rect">
            <a:avLst/>
          </a:prstGeom>
          <a:solidFill>
            <a:srgbClr val="07171A"/>
          </a:solidFill>
          <a:ln w="254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8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DD4BF"/>
                </a:solidFill>
                <a:latin typeface="Helvetica Neue"/>
              </a:rPr>
              <a:t>Generate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33207" y="4206240"/>
            <a:ext cx="2926080" cy="548640"/>
          </a:xfrm>
          <a:prstGeom prst="rect">
            <a:avLst/>
          </a:prstGeom>
          <a:solidFill>
            <a:srgbClr val="07171A"/>
          </a:solidFill>
          <a:ln w="2540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3207" y="427939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EEAD4"/>
                </a:solidFill>
                <a:latin typeface="Helvetica Neue"/>
              </a:rPr>
              <a:t>Enforce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Specs drift from code. Then they lie.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566160" cy="283464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356616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2D3EE"/>
                </a:solidFill>
                <a:latin typeface="Helvetica Neue"/>
              </a:rPr>
              <a:t>Docs rot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Hand-written specs go stale the moment code changes. Nobody trusts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2011680"/>
            <a:ext cx="3566160" cy="283464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2011680"/>
            <a:ext cx="356616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D4BF"/>
                </a:solidFill>
                <a:latin typeface="Helvetica Neue"/>
              </a:rPr>
              <a:t>Pure-LLM specs hallucinate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Generate-everything tools invent endpoints, tables, and scopes.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2011680"/>
            <a:ext cx="3566160" cy="283464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011680"/>
            <a:ext cx="3566160" cy="8229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EEAD4"/>
                </a:solidFill>
                <a:latin typeface="Helvetica Neue"/>
              </a:rPr>
              <a:t>No enforcement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0175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Nothing fails the build when the contract and the code disagree.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D6EEF0"/>
                </a:solidFill>
                <a:latin typeface="Helvetica Neue"/>
              </a:rPr>
              <a:t>speccord's answer: facts are deterministic — only prose is model-written.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Helvetica Neue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Hybrid by construction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521208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DD4BF"/>
                </a:solidFill>
                <a:latin typeface="Helvetica Neue"/>
              </a:rPr>
              <a:t>Deterministic (code)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7548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Parse OpenAPI/GraphQL/proto · SQL · events · security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Diff the contract surface (drift)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Lifecycle state machine + entry gates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Capability resolution from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011680"/>
            <a:ext cx="521208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EEAD4"/>
                </a:solidFill>
                <a:latin typeface="Helvetica Neue"/>
              </a:rPr>
              <a:t>Model-written (prose 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7548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Draft narrative around established facts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Plans, PRDs, stories, reviews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Never invents endpoints/tables/scopes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Helvetica Neue"/>
              </a:rPr>
              <a:t>• Grounded in spec + constitution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Pass/fail is always code. The model only writes the 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EEAD4"/>
                </a:solidFill>
                <a:latin typeface="Helvetica Neue"/>
              </a:rPr>
              <a:t>ONE TOOL, BOTH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What speccord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105156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82296" cy="10515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7627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2D3EE"/>
                </a:solidFill>
                <a:latin typeface="Helvetica Neue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code -&gt;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331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discover the as-is contract: API · data · events · security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46120"/>
            <a:ext cx="10881360" cy="105156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246120"/>
            <a:ext cx="82296" cy="105156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2DD4BF"/>
                </a:solidFill>
                <a:latin typeface="Helvetica Neue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962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spec -&gt;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56616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constitution -&gt; spec -&gt; plan -&gt; tasks -&gt; story -&gt; implement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80560"/>
            <a:ext cx="10881360" cy="105156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82296" cy="105156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4515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5EEAD4"/>
                </a:solidFill>
                <a:latin typeface="Helvetica Neue"/>
              </a:rPr>
              <a:t>Enforce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84064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keep them in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0060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lifecycle gates · CI drift gate · runtime conformance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7E8F9"/>
                </a:solidFill>
                <a:latin typeface="Helvetica Neue"/>
              </a:rPr>
              <a:t>CONFIGURABLE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One knob: scale (0–4)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Scale sets active phases, enabled roles, and default capabilities — all overridable.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22D3EE"/>
                </a:solidFill>
                <a:latin typeface="Helvetica Neue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implement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07208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2DD4BF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small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plan, stories, 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4336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4336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5EEAD4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4336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1496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solutioning, PRD, QA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41464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41464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67E8F9"/>
                </a:solidFill>
                <a:latin typeface="Helvetica Neu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1464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analysis, UX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08592" y="2286000"/>
            <a:ext cx="2075688" cy="2286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2468880"/>
            <a:ext cx="207568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22D3EE"/>
                </a:solidFill>
                <a:latin typeface="Helvetica Neue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429000"/>
            <a:ext cx="2075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6EEF0"/>
                </a:solidFill>
                <a:latin typeface="Helvetica Neue"/>
              </a:rPr>
              <a:t>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5752" y="3840480"/>
            <a:ext cx="18013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FB2B6"/>
                </a:solidFill>
                <a:latin typeface="Helvetica Neue"/>
              </a:rPr>
              <a:t>+ PO,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D4BF"/>
                </a:solidFill>
                <a:latin typeface="Consolas"/>
              </a:rPr>
              <a:t>speccord capabilities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shows what's on, which command each unlocks, and how to change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Helvetica Neue"/>
              </a:rPr>
              <a:t>THE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Four phases →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2D3EE"/>
                </a:solidFill>
                <a:latin typeface="Helvetica Neue"/>
              </a:rP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brief  (analyst)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discover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research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DD4BF"/>
                </a:solidFill>
                <a:latin typeface="Helvetica Neue"/>
              </a:rPr>
              <a:t>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prd  (pm)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base draft | new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feature new · clarify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EEAD4"/>
                </a:solidFill>
                <a:latin typeface="Helvetica Neue"/>
              </a:rPr>
              <a:t>SOLUTIONING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plan  (architect)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agent architect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epics &amp; 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2011680"/>
            <a:ext cx="2606040" cy="292608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14884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67E8F9"/>
                </a:solidFill>
                <a:latin typeface="Helvetica Neue"/>
              </a:rPr>
              <a:t>IMPLEMENTATION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743200"/>
            <a:ext cx="2240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story new (sm)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implement (dev)</a:t>
            </a:r>
          </a:p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review (qa)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Always-on: constitution · analyze · checklist · lint · status · advance · gate ·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Helvetica Neue"/>
              </a:rPr>
              <a:t>THE SPINE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Enforcement is code, not vibes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1143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82296" cy="1143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2D3EE"/>
                </a:solidFill>
                <a:latin typeface="Helvetica Neue"/>
              </a:rPr>
              <a:t>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Entry gates: lint, base ref, ACs&lt;-&gt;tests, plan+tasks.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957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Draft -&gt; In Review -&gt; Approved -&gt;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37560"/>
            <a:ext cx="10881360" cy="1143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82296" cy="11430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20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EEAD4"/>
                </a:solidFill>
                <a:latin typeface="Helvetica Neue"/>
              </a:rPr>
              <a:t>CI drift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Contract file changed but no spec updated -&gt; build fails.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speccord gate --base origin/main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63440"/>
            <a:ext cx="10881360" cy="11430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82296" cy="1143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67E8F9"/>
                </a:solidFill>
                <a:latin typeface="Helvetica Neue"/>
              </a:rPr>
              <a:t>Runtime conform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Helvetica Neue"/>
              </a:rPr>
              <a:t>Re-discovers the live surface, diffs the baseline -&gt; fails on drift.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04748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speccord conform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Helvetica Neue"/>
              </a:rPr>
              <a:t>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Plugs into your AI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Consolas"/>
              </a:rPr>
              <a:t>speccord agent-rules  wires up MCP + a spec-as-contract ruleset for each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3566160" cy="13716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3566160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Helvetica Neue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6EEF0"/>
                </a:solidFill>
                <a:latin typeface="Consolas"/>
              </a:rPr>
              <a:t>.mcp.json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Consolas"/>
              </a:rPr>
              <a:t>CLAUDE.md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240280"/>
            <a:ext cx="3566160" cy="13716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240280"/>
            <a:ext cx="3566160" cy="82296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EEAD4"/>
                </a:solidFill>
                <a:latin typeface="Helvetica Neue"/>
              </a:rPr>
              <a:t>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6EEF0"/>
                </a:solidFill>
                <a:latin typeface="Consolas"/>
              </a:rPr>
              <a:t>.cursor/mcp.json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Consolas"/>
              </a:rPr>
              <a:t>.cursor/rules/*.mdc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240280"/>
            <a:ext cx="3566160" cy="1371600"/>
          </a:xfrm>
          <a:prstGeom prst="rect">
            <a:avLst/>
          </a:prstGeom>
          <a:solidFill>
            <a:srgbClr val="0F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2240280"/>
            <a:ext cx="3566160" cy="82296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67E8F9"/>
                </a:solidFill>
                <a:latin typeface="Helvetica Neue"/>
              </a:rPr>
              <a:t>Copilot / VS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8803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6EEF0"/>
                </a:solidFill>
                <a:latin typeface="Consolas"/>
              </a:rPr>
              <a:t>.vscode/mcp.json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FB2B6"/>
                </a:solidFill>
                <a:latin typeface="Consolas"/>
              </a:rPr>
              <a:t>copilot-instructions.md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40480"/>
            <a:ext cx="10881360" cy="1280160"/>
          </a:xfrm>
          <a:prstGeom prst="rect">
            <a:avLst/>
          </a:prstGeom>
          <a:solidFill>
            <a:srgbClr val="0B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Helvetica Neue"/>
              </a:rPr>
              <a:t>MCP tools (speccord mcp):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891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read -&gt; get_base_spec · get_constitution · story_next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EF0"/>
                </a:solidFill>
                <a:latin typeface="Consolas"/>
              </a:rPr>
              <a:t>verify -&gt; analyze · lint · gate · conform    transition -&gt; advance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03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D6EEF0"/>
                </a:solidFill>
                <a:latin typeface="Helvetica Neue"/>
              </a:rPr>
              <a:t>The agent reads the spec, writes code, runs the gates, fixes, then advances. Loop.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EEAD4"/>
                </a:solidFill>
                <a:latin typeface="Helvetica Neue"/>
              </a:rPr>
              <a:t>TWO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6EEF0"/>
                </a:solidFill>
                <a:latin typeface="Helvetica Neue"/>
              </a:rPr>
              <a:t>Get started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881360" cy="3017520"/>
          </a:xfrm>
          <a:prstGeom prst="rect">
            <a:avLst/>
          </a:prstGeom>
          <a:solidFill>
            <a:srgbClr val="0B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32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8FB2B6"/>
                </a:solidFill>
                <a:latin typeface="Consolas"/>
              </a:rPr>
              <a:t># existing service</a:t>
            </a:r>
          </a:p>
          <a:p>
            <a:r>
              <a:rPr sz="1500">
                <a:solidFill>
                  <a:srgbClr val="2DD4BF"/>
                </a:solidFill>
                <a:latin typeface="Consolas"/>
              </a:rPr>
              <a:t>speccord init --service orders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speccord discover  &amp;&amp;  speccord base draft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8FB2B6"/>
                </a:solidFill>
                <a:latin typeface="Consolas"/>
              </a:rPr>
              <a:t># new service</a:t>
            </a:r>
          </a:p>
          <a:p>
            <a:r>
              <a:rPr sz="1500">
                <a:solidFill>
                  <a:srgbClr val="2DD4BF"/>
                </a:solidFill>
                <a:latin typeface="Consolas"/>
              </a:rPr>
              <a:t>speccord init --service giftcards --greenfield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speccord base new --intent "..."</a:t>
            </a:r>
          </a:p>
          <a:p>
            <a:r>
              <a:rPr sz="1500">
                <a:solidFill>
                  <a:srgbClr val="D6EEF0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8FB2B6"/>
                </a:solidFill>
                <a:latin typeface="Consolas"/>
              </a:rPr>
              <a:t># product workflow</a:t>
            </a:r>
          </a:p>
          <a:p>
            <a:r>
              <a:rPr sz="1500">
                <a:solidFill>
                  <a:srgbClr val="2DD4BF"/>
                </a:solidFill>
                <a:latin typeface="Consolas"/>
              </a:rPr>
              <a:t>speccord init --pack product  &amp;&amp;  speccord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FB2B6"/>
                </a:solidFill>
                <a:latin typeface="Helvetica Neue"/>
              </a:rPr>
              <a:t>Read USAGE.md for full tutorials · every pass/fail decision is 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2B6"/>
                </a:solidFill>
                <a:latin typeface="Helvetica Neue"/>
              </a:rPr>
              <a:t>speccord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3550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>
                <a:solidFill>
                  <a:srgbClr val="8FB2B6"/>
                </a:solidFill>
                <a:latin typeface="Helvetica Neue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