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59736"/>
            <a:ext cx="12191695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916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600" b="1">
                <a:solidFill>
                  <a:srgbClr val="E2E8F0"/>
                </a:solidFill>
                <a:latin typeface="Helvetica Neue"/>
              </a:rPr>
              <a:t>speccord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38BDF8"/>
                </a:solidFill>
                <a:latin typeface="Helvetica Neue"/>
              </a:rPr>
              <a:t>the spec is the contract your code is checked against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Helvetica Neue"/>
              </a:rPr>
              <a:t>A spec-driven development CLI — a configurable superset 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2407" y="4206240"/>
            <a:ext cx="2926080" cy="548640"/>
          </a:xfrm>
          <a:prstGeom prst="rect">
            <a:avLst/>
          </a:prstGeom>
          <a:solidFill>
            <a:srgbClr val="0F172A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2407" y="4279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  <a:latin typeface="Helvetica Neue"/>
              </a:rPr>
              <a:t>spec-kit · generative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32807" y="4206240"/>
            <a:ext cx="2926080" cy="548640"/>
          </a:xfrm>
          <a:prstGeom prst="rect">
            <a:avLst/>
          </a:prstGeom>
          <a:solidFill>
            <a:srgbClr val="0F172A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4279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Helvetica Neue"/>
              </a:rPr>
              <a:t>speccord · enforcement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3207" y="4206240"/>
            <a:ext cx="2926080" cy="548640"/>
          </a:xfrm>
          <a:prstGeom prst="rect">
            <a:avLst/>
          </a:prstGeom>
          <a:solidFill>
            <a:srgbClr val="0F172A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3207" y="427939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78BFA"/>
                </a:solidFill>
                <a:latin typeface="Helvetica Neue"/>
              </a:rPr>
              <a:t>BMAD · agentic agile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Specs drift from code. Then they lie.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566160" cy="2834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56616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Helvetica Neue"/>
              </a:rPr>
              <a:t>Docs rot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 Neue"/>
              </a:rPr>
              <a:t>Hand-written specs go stale the moment code changes. Nobody trusts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011680"/>
            <a:ext cx="3566160" cy="2834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011680"/>
            <a:ext cx="3566160" cy="822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Helvetica Neue"/>
              </a:rPr>
              <a:t>Pure-LLM specs hallucinate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1752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 Neue"/>
              </a:rPr>
              <a:t>Generate-everything tools invent endpoints, tables, and scopes.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3566160" cy="2834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011680"/>
            <a:ext cx="3566160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Helvetica Neue"/>
              </a:rPr>
              <a:t>No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1752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 Neue"/>
              </a:rPr>
              <a:t>Nothing fails the build when the contract and the code disagree.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Helvetica Neue"/>
              </a:rPr>
              <a:t>speccord's answer: facts are deterministic — only prose is model-written.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Helvetica Neue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Hybrid by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4D399"/>
                </a:solidFill>
                <a:latin typeface="Helvetica Neue"/>
              </a:rPr>
              <a:t>Deterministic (code)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7548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Parse OpenAPI · migrations · Kafka · security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Diff the contract surface (drift)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Lifecycle state machine + entry gates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Capability resolution from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21208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A78BFA"/>
                </a:solidFill>
                <a:latin typeface="Helvetica Neue"/>
              </a:rPr>
              <a:t>Model-written (prose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7548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Draft narrative around established facts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Plans, PRDs, stories, reviews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Never invents endpoints/tables/scopes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Helvetica Neue"/>
              </a:rPr>
              <a:t>• Grounded in spec + constitution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Helvetica Neue"/>
              </a:rPr>
              <a:t>Pass/fail is always code. The model only writes the 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Helvetica Neue"/>
              </a:rPr>
              <a:t>THE SUPERSET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Three lineages, one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881360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82296" cy="1051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8BDF8"/>
                </a:solidFill>
                <a:latin typeface="Helvetica Neue"/>
              </a:rPr>
              <a:t>spec-kit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Generative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3172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constitution -&gt; spec -&gt; plan -&gt; tasks -&gt; implement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10881360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82296" cy="1051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4D399"/>
                </a:solidFill>
                <a:latin typeface="Helvetica Neue"/>
              </a:rPr>
              <a:t>speccord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962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Extraction +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56616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discover · lifecycle gates · CI drift gate · conform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0560"/>
            <a:ext cx="10881360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82296" cy="1051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A78BFA"/>
                </a:solidFill>
                <a:latin typeface="Helvetica Neue"/>
              </a:rPr>
              <a:t>BMAD-METHOD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Agentic agile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006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role personas · scale-adaptive · PRD -&gt; epics -&gt; stories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Helvetica Neue"/>
              </a:rPr>
              <a:t>CONFIGURABLE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One knob: scale (0–4)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 Neue"/>
              </a:rPr>
              <a:t>Scale sets active phases, enabled roles, and default capabilities — all overridable.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075688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0756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38BDF8"/>
                </a:solidFill>
                <a:latin typeface="Helvetica Neue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Helvetica Neue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Helvetica Neue"/>
              </a:rPr>
              <a:t>implement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2286000"/>
            <a:ext cx="2075688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2468880"/>
            <a:ext cx="20756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34D399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3429000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Helvetica Neue"/>
              </a:rPr>
              <a:t>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84048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Helvetica Neue"/>
              </a:rPr>
              <a:t>+ plan, stories, 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2286000"/>
            <a:ext cx="2075688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2468880"/>
            <a:ext cx="20756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A78BFA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3429000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Helvetica Neue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384048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Helvetica Neue"/>
              </a:rPr>
              <a:t>+ solutioning, PRD, QA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1464" y="2286000"/>
            <a:ext cx="2075688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2468880"/>
            <a:ext cx="20756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BBF24"/>
                </a:solidFill>
                <a:latin typeface="Helvetica Ne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3429000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Helvetica Neue"/>
              </a:rPr>
              <a:t>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384048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Helvetica Neue"/>
              </a:rPr>
              <a:t>+ analysis, 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08592" y="2286000"/>
            <a:ext cx="2075688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468880"/>
            <a:ext cx="20756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38BDF8"/>
                </a:solidFill>
                <a:latin typeface="Helvetica Neu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429000"/>
            <a:ext cx="20756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Helvetica Neue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3840480"/>
            <a:ext cx="18013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Helvetica Neue"/>
              </a:rPr>
              <a:t>+ PO,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Consolas"/>
              </a:rPr>
              <a:t>speccord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 Neue"/>
              </a:rPr>
              <a:t>shows what's on, which command each unlocks, and how to change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Helvetica Neue"/>
              </a:rPr>
              <a:t>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Four phases →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  <a:latin typeface="Helvetica Neue"/>
              </a:rP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brief  (analyst)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discover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488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Helvetica Neue"/>
              </a:rPr>
              <a:t>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prd  (pm)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base draft | new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feature new · clarify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488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78BFA"/>
                </a:solidFill>
                <a:latin typeface="Helvetica Neue"/>
              </a:rPr>
              <a:t>SOLUTIONING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plan  (architect)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agent architect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epics &amp; stories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0116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1488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BBF24"/>
                </a:solidFill>
                <a:latin typeface="Helvetica Neue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743200"/>
            <a:ext cx="2240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story new (sm)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implement (dev)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review (qa)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Always-on: constitution · analyze · checklist · lint · status · advance · gate ·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Helvetica Neue"/>
              </a:rPr>
              <a:t>THE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Enforcement is code, not vibes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88136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82296" cy="1143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8BDF8"/>
                </a:solidFill>
                <a:latin typeface="Helvetica Neue"/>
              </a:rPr>
              <a:t>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Entry gates: lint, base ref, ACs&lt;-&gt;tests, plan+tasks.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Draft -&gt; In Review -&gt; Approved -&gt;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1088136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82296" cy="1143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A78BFA"/>
                </a:solidFill>
                <a:latin typeface="Helvetica Neue"/>
              </a:rPr>
              <a:t>CI drift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9592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Contract file changed but no spec updated -&gt; build fails.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2160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speccord gate --base origin/main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1088136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82296" cy="1143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BBF24"/>
                </a:solidFill>
                <a:latin typeface="Helvetica Neue"/>
              </a:rPr>
              <a:t>Runtime conform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2180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Helvetica Neue"/>
              </a:rPr>
              <a:t>Re-discovers the live surface, diffs the baseline -&gt; fails on drift.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474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speccord conform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Helvetica Neue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Plugs into your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onsolas"/>
              </a:rPr>
              <a:t>speccord agent-rules  wires up MCP + a spec-as-contract ruleset for each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56616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56616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Helvetica Neue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nsolas"/>
              </a:rPr>
              <a:t>.mcp.json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onsolas"/>
              </a:rPr>
              <a:t>CLAUDE.md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240280"/>
            <a:ext cx="356616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240280"/>
            <a:ext cx="3566160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  <a:latin typeface="Helvetica Neue"/>
              </a:rPr>
              <a:t>Cursor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80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nsolas"/>
              </a:rPr>
              <a:t>.cursor/mcp.json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200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onsolas"/>
              </a:rPr>
              <a:t>.cursor/rules/*.mdc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240280"/>
            <a:ext cx="356616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240280"/>
            <a:ext cx="356616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Helvetica Neue"/>
              </a:rPr>
              <a:t>Copilot / VS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80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nsolas"/>
              </a:rPr>
              <a:t>.vscode/mcp.json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00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onsolas"/>
              </a:rPr>
              <a:t>copilot-instructions.md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0881360" cy="1280160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Helvetica Neue"/>
              </a:rPr>
              <a:t>MCP tools (speccord mcp):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read -&gt; get_base_spec · get_constitution · story_next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nsolas"/>
              </a:rPr>
              <a:t>verify -&gt; analyze · lint · gate · conform    transition -&gt; advance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Helvetica Neue"/>
              </a:rPr>
              <a:t>The agent reads the spec, writes code, runs the gates, fixes, then advances. Loop.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  <a:latin typeface="Helvetica Neue"/>
              </a:rPr>
              <a:t>TWO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Helvetica Neue"/>
              </a:rPr>
              <a:t>Get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881360" cy="3017520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Consolas"/>
              </a:rPr>
              <a:t># existing service</a:t>
            </a:r>
          </a:p>
          <a:p>
            <a:r>
              <a:rPr sz="1500">
                <a:solidFill>
                  <a:srgbClr val="34D399"/>
                </a:solidFill>
                <a:latin typeface="Consolas"/>
              </a:rPr>
              <a:t>speccord init --service orders</a:t>
            </a:r>
          </a:p>
          <a:p>
            <a:r>
              <a:rPr sz="1500">
                <a:solidFill>
                  <a:srgbClr val="E2E8F0"/>
                </a:solidFill>
                <a:latin typeface="Consolas"/>
              </a:rPr>
              <a:t>speccord discover  &amp;&amp;  speccord base draft</a:t>
            </a:r>
          </a:p>
          <a:p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94A3B8"/>
                </a:solidFill>
                <a:latin typeface="Consolas"/>
              </a:rPr>
              <a:t># new service</a:t>
            </a:r>
          </a:p>
          <a:p>
            <a:r>
              <a:rPr sz="1500">
                <a:solidFill>
                  <a:srgbClr val="34D399"/>
                </a:solidFill>
                <a:latin typeface="Consolas"/>
              </a:rPr>
              <a:t>speccord init --service giftcards --greenfield</a:t>
            </a:r>
          </a:p>
          <a:p>
            <a:r>
              <a:rPr sz="1500">
                <a:solidFill>
                  <a:srgbClr val="E2E8F0"/>
                </a:solidFill>
                <a:latin typeface="Consolas"/>
              </a:rPr>
              <a:t>speccord base new --intent "..."</a:t>
            </a:r>
          </a:p>
          <a:p>
            <a:r>
              <a:rPr sz="15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94A3B8"/>
                </a:solidFill>
                <a:latin typeface="Consolas"/>
              </a:rPr>
              <a:t># product / BMAD-style</a:t>
            </a:r>
          </a:p>
          <a:p>
            <a:r>
              <a:rPr sz="1500">
                <a:solidFill>
                  <a:srgbClr val="34D399"/>
                </a:solidFill>
                <a:latin typeface="Consolas"/>
              </a:rPr>
              <a:t>speccord init --pack product  &amp;&amp;  speccord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Helvetica Neue"/>
              </a:rPr>
              <a:t>Read USAGE.md for full tutorials · every pass/fail decision is deterministic.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Helvetica Neue"/>
              </a:rPr>
              <a:t>speccord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4A3B8"/>
                </a:solidFill>
                <a:latin typeface="Helvetica Neue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